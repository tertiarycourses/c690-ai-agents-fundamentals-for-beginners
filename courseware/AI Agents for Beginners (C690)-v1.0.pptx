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Agents for Beginners (C690)</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C690</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3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Course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Applied AI and no-code automation practitioner</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AI agents, no-code workflow automation, knowledge grounding, and responsible deployment</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one repetitive work task you would like an assistant to help with.</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decision or action you would always keep under human control.</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question you have about the difference between a chatbot and an AI agent.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Scheduled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flow</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Timing &amp; approach</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Understand, design, build, test, and publish a bounded beginner AI agent</a:t>
            </a:r>
          </a:p>
          <a:p>
            <a:pPr>
              <a:spcAft>
                <a:spcPts val="1000"/>
              </a:spcAft>
            </a:pPr>
            <a:r>
              <a:rPr sz="1400" b="0">
                <a:solidFill>
                  <a:srgbClr val="5B6372"/>
                </a:solidFill>
                <a:latin typeface="Arial"/>
              </a:rPr>
              <a:t>–  Topic 1: Understanding AI Agents (Lab 1)</a:t>
            </a:r>
          </a:p>
          <a:p>
            <a:pPr>
              <a:spcAft>
                <a:spcPts val="1000"/>
              </a:spcAft>
            </a:pPr>
            <a:r>
              <a:rPr sz="1400" b="0">
                <a:solidFill>
                  <a:srgbClr val="5B6372"/>
                </a:solidFill>
                <a:latin typeface="Arial"/>
              </a:rPr>
              <a:t>–  Topic 2: Building Your First AI Agents (Labs 2–4)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9:00 am - 6:00 pm (1-hour lunch; two 15-minute tea breaks)</a:t>
            </a:r>
          </a:p>
          <a:p>
            <a:pPr>
              <a:spcAft>
                <a:spcPts val="1000"/>
              </a:spcAft>
            </a:pPr>
            <a:r>
              <a:rPr sz="1600" b="0">
                <a:solidFill>
                  <a:srgbClr val="161B26"/>
                </a:solidFill>
                <a:latin typeface="Arial"/>
              </a:rPr>
              <a:t>•  Learning arc</a:t>
            </a:r>
          </a:p>
          <a:p>
            <a:pPr>
              <a:spcAft>
                <a:spcPts val="1000"/>
              </a:spcAft>
            </a:pPr>
            <a:r>
              <a:rPr sz="1400" b="0">
                <a:solidFill>
                  <a:srgbClr val="5B6372"/>
                </a:solidFill>
                <a:latin typeface="Arial"/>
              </a:rPr>
              <a:t>–  Concept → guided build → verify → discuss → recap</a:t>
            </a:r>
          </a:p>
          <a:p>
            <a:pPr>
              <a:spcAft>
                <a:spcPts val="1000"/>
              </a:spcAft>
            </a:pPr>
            <a:r>
              <a:rPr sz="1600" b="0">
                <a:solidFill>
                  <a:srgbClr val="161B26"/>
                </a:solidFill>
                <a:latin typeface="Arial"/>
              </a:rPr>
              <a:t>•  Connected practice</a:t>
            </a:r>
          </a:p>
          <a:p>
            <a:pPr>
              <a:spcAft>
                <a:spcPts val="1000"/>
              </a:spcAft>
            </a:pPr>
            <a:r>
              <a:rPr sz="1400" b="0">
                <a:solidFill>
                  <a:srgbClr val="5B6372"/>
                </a:solidFill>
                <a:latin typeface="Arial"/>
              </a:rPr>
              <a:t>–  Four labs build one bounded BrightDesk agent from canvas to controlled demo.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how AI agents differ from chatbots and fixed workflows, including the roles of models, prompts, tools, memory, observations, and stop conditions.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Patterns and Platforms</a:t>
            </a:r>
          </a:p>
          <a:p>
            <a:pPr algn="l">
              <a:spcAft>
                <a:spcPts val="300"/>
              </a:spcAft>
            </a:pPr>
            <a:r>
              <a:rPr sz="1300" b="0">
                <a:solidFill>
                  <a:srgbClr val="5B6372"/>
                </a:solidFill>
                <a:latin typeface="Arial"/>
              </a:rPr>
              <a:t>Compare conversational, task-based, and multi-agent patterns and select an appropriate no-code platform and bounded use case.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Design</a:t>
            </a:r>
          </a:p>
          <a:p>
            <a:pPr algn="l">
              <a:spcAft>
                <a:spcPts val="300"/>
              </a:spcAft>
            </a:pPr>
            <a:r>
              <a:rPr sz="1300" b="0">
                <a:solidFill>
                  <a:srgbClr val="5B6372"/>
                </a:solidFill>
                <a:latin typeface="Arial"/>
              </a:rPr>
              <a:t>Design an agent with a clear goal, instructions, persona, evidence boundary, tool permissions, output contract, and human escalation path.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No-Code Build</a:t>
            </a:r>
          </a:p>
          <a:p>
            <a:pPr algn="l">
              <a:spcAft>
                <a:spcPts val="300"/>
              </a:spcAft>
            </a:pPr>
            <a:r>
              <a:rPr sz="1300" b="0">
                <a:solidFill>
                  <a:srgbClr val="5B6372"/>
                </a:solidFill>
                <a:latin typeface="Arial"/>
              </a:rPr>
              <a:t>Build a simple no-code AI agent in n8n and ground its answers on an approved synthetic knowledge source.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Tools and Control</a:t>
            </a:r>
          </a:p>
          <a:p>
            <a:pPr algn="l">
              <a:spcAft>
                <a:spcPts val="300"/>
              </a:spcAft>
            </a:pPr>
            <a:r>
              <a:rPr sz="1300" b="0">
                <a:solidFill>
                  <a:srgbClr val="5B6372"/>
                </a:solidFill>
                <a:latin typeface="Arial"/>
              </a:rPr>
              <a:t>Connect a low-risk tool to an agent and control when the agent may calculate, recommend, refuse, or ask for human approval.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Test and Deploy</a:t>
            </a:r>
          </a:p>
          <a:p>
            <a:pPr algn="l">
              <a:spcAft>
                <a:spcPts val="300"/>
              </a:spcAft>
            </a:pPr>
            <a:r>
              <a:rPr sz="1300" b="0">
                <a:solidFill>
                  <a:srgbClr val="5B6372"/>
                </a:solidFill>
                <a:latin typeface="Arial"/>
              </a:rPr>
              <a:t>Test and prepare an agent for deployment using expected-answer checks, safety cases, logging, monitoring, rollback, and continuous improvement.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Agent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Shift from Answers to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Chat</a:t>
            </a:r>
          </a:p>
          <a:p>
            <a:pPr algn="l">
              <a:spcAft>
                <a:spcPts val="300"/>
              </a:spcAft>
            </a:pPr>
            <a:r>
              <a:rPr sz="1300" b="0">
                <a:solidFill>
                  <a:srgbClr val="5B6372"/>
                </a:solidFill>
                <a:latin typeface="Arial"/>
              </a:rPr>
              <a:t>Generate a response for the current message.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Workflow</a:t>
            </a:r>
          </a:p>
          <a:p>
            <a:pPr algn="l">
              <a:spcAft>
                <a:spcPts val="300"/>
              </a:spcAft>
            </a:pPr>
            <a:r>
              <a:rPr sz="1300" b="0">
                <a:solidFill>
                  <a:srgbClr val="5B6372"/>
                </a:solidFill>
                <a:latin typeface="Arial"/>
              </a:rPr>
              <a:t>Follow a known path through defined steps and rules.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Agent</a:t>
            </a:r>
          </a:p>
          <a:p>
            <a:pPr algn="l">
              <a:spcAft>
                <a:spcPts val="300"/>
              </a:spcAft>
            </a:pPr>
            <a:r>
              <a:rPr sz="1300" b="0">
                <a:solidFill>
                  <a:srgbClr val="5B6372"/>
                </a:solidFill>
                <a:latin typeface="Arial"/>
              </a:rPr>
              <a:t>Choose the next permitted step from the goal and observation.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Human control</a:t>
            </a:r>
          </a:p>
          <a:p>
            <a:pPr algn="l">
              <a:spcAft>
                <a:spcPts val="300"/>
              </a:spcAft>
            </a:pPr>
            <a:r>
              <a:rPr sz="1300" b="0">
                <a:solidFill>
                  <a:srgbClr val="5B6372"/>
                </a:solidFill>
                <a:latin typeface="Arial"/>
              </a:rPr>
              <a:t>Set authority, review evidence, approve impact, and stop the system.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GATES Design Check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Observable result and completion rule.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Authority</a:t>
            </a:r>
          </a:p>
          <a:p>
            <a:pPr algn="l">
              <a:spcAft>
                <a:spcPts val="300"/>
              </a:spcAft>
            </a:pPr>
            <a:r>
              <a:rPr sz="1200" b="0">
                <a:solidFill>
                  <a:srgbClr val="5B6372"/>
                </a:solidFill>
                <a:latin typeface="Arial"/>
              </a:rPr>
              <a:t>Tools, permissions, limits, and approvals.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Truth</a:t>
            </a:r>
          </a:p>
          <a:p>
            <a:pPr algn="l">
              <a:spcAft>
                <a:spcPts val="300"/>
              </a:spcAft>
            </a:pPr>
            <a:r>
              <a:rPr sz="1200" b="0">
                <a:solidFill>
                  <a:srgbClr val="5B6372"/>
                </a:solidFill>
                <a:latin typeface="Arial"/>
              </a:rPr>
              <a:t>Sources, citations, uncertainty, and refusal.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Evaluation</a:t>
            </a:r>
          </a:p>
          <a:p>
            <a:pPr algn="l">
              <a:spcAft>
                <a:spcPts val="300"/>
              </a:spcAft>
            </a:pPr>
            <a:r>
              <a:rPr sz="1200" b="0">
                <a:solidFill>
                  <a:srgbClr val="5B6372"/>
                </a:solidFill>
                <a:latin typeface="Arial"/>
              </a:rPr>
              <a:t>Expected behaviour and stable test cases.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a:t>
            </a:r>
          </a:p>
          <a:p>
            <a:pPr algn="l">
              <a:spcAft>
                <a:spcPts val="300"/>
              </a:spcAft>
            </a:pPr>
            <a:r>
              <a:rPr sz="1200" b="0">
                <a:solidFill>
                  <a:srgbClr val="5B6372"/>
                </a:solidFill>
                <a:latin typeface="Arial"/>
              </a:rPr>
              <a:t>Context, retention, correction, and deletion.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Escalation</a:t>
            </a:r>
          </a:p>
          <a:p>
            <a:pPr algn="l">
              <a:spcAft>
                <a:spcPts val="300"/>
              </a:spcAft>
            </a:pPr>
            <a:r>
              <a:rPr sz="1200" b="0">
                <a:solidFill>
                  <a:srgbClr val="5B6372"/>
                </a:solidFill>
                <a:latin typeface="Arial"/>
              </a:rPr>
              <a:t>Stop conditions, handoff evidence, and owner.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COURSE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Autonomy should grow only as evidence and control grow.</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Begin with one bounded goal, one approved knowledge source, one low-risk tool, and a visible human handoff.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Agent design pack</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Use-case canvas</a:t>
            </a:r>
          </a:p>
          <a:p>
            <a:pPr>
              <a:spcAft>
                <a:spcPts val="900"/>
              </a:spcAft>
            </a:pPr>
            <a:r>
              <a:rPr sz="1400" b="0">
                <a:solidFill>
                  <a:srgbClr val="161B26"/>
                </a:solidFill>
                <a:latin typeface="Arial"/>
              </a:rPr>
              <a:t>•  GATES instructions</a:t>
            </a:r>
          </a:p>
          <a:p>
            <a:pPr>
              <a:spcAft>
                <a:spcPts val="900"/>
              </a:spcAft>
            </a:pPr>
            <a:r>
              <a:rPr sz="1400" b="0">
                <a:solidFill>
                  <a:srgbClr val="161B26"/>
                </a:solidFill>
                <a:latin typeface="Arial"/>
              </a:rPr>
              <a:t>•  Test expectations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No-code agent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n8n chat interface</a:t>
            </a:r>
          </a:p>
          <a:p>
            <a:pPr>
              <a:spcAft>
                <a:spcPts val="900"/>
              </a:spcAft>
            </a:pPr>
            <a:r>
              <a:rPr sz="1400" b="0">
                <a:solidFill>
                  <a:srgbClr val="161B26"/>
                </a:solidFill>
                <a:latin typeface="Arial"/>
              </a:rPr>
              <a:t>•  approved model</a:t>
            </a:r>
          </a:p>
          <a:p>
            <a:pPr>
              <a:spcAft>
                <a:spcPts val="900"/>
              </a:spcAft>
            </a:pPr>
            <a:r>
              <a:rPr sz="1400" b="0">
                <a:solidFill>
                  <a:srgbClr val="161B26"/>
                </a:solidFill>
                <a:latin typeface="Arial"/>
              </a:rPr>
              <a:t>•  short-term memory</a:t>
            </a:r>
          </a:p>
          <a:p>
            <a:pPr>
              <a:spcAft>
                <a:spcPts val="900"/>
              </a:spcAft>
            </a:pPr>
            <a:r>
              <a:rPr sz="1400" b="0">
                <a:solidFill>
                  <a:srgbClr val="161B26"/>
                </a:solidFill>
                <a:latin typeface="Arial"/>
              </a:rPr>
              <a:t>•  grounded answers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Controlled pilot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calculator tool</a:t>
            </a:r>
          </a:p>
          <a:p>
            <a:pPr>
              <a:spcAft>
                <a:spcPts val="900"/>
              </a:spcAft>
            </a:pPr>
            <a:r>
              <a:rPr sz="1400" b="0">
                <a:solidFill>
                  <a:srgbClr val="161B26"/>
                </a:solidFill>
                <a:latin typeface="Arial"/>
              </a:rPr>
              <a:t>•  safety tests</a:t>
            </a:r>
          </a:p>
          <a:p>
            <a:pPr>
              <a:spcAft>
                <a:spcPts val="900"/>
              </a:spcAft>
            </a:pPr>
            <a:r>
              <a:rPr sz="1400" b="0">
                <a:solidFill>
                  <a:srgbClr val="161B26"/>
                </a:solidFill>
                <a:latin typeface="Arial"/>
              </a:rPr>
              <a:t>•  publish decision</a:t>
            </a:r>
          </a:p>
          <a:p>
            <a:pPr>
              <a:spcAft>
                <a:spcPts val="900"/>
              </a:spcAft>
            </a:pPr>
            <a:r>
              <a:rPr sz="1400" b="0">
                <a:solidFill>
                  <a:srgbClr val="161B26"/>
                </a:solidFill>
                <a:latin typeface="Arial"/>
              </a:rPr>
              <a:t>•  rollback record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Connected Learning 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Lab 1 selects a bounded use case and defines success, evidence, tools, risks, and ownership.</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Lab 2 turns that design into testable instructions, a persona, an output contract, and failure behaviour.</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Lab 3 implements the same design on the n8n canvas and grounds it on the BrightDesk FAQ.</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Lab 4 adds one low-risk tool, runs the stable test set, and records a publish or hold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Understanding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From chatbots to agents | models, prompts, tools and memory | agent types | use cases | no-code platforms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Key Concepts — Understanding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Goal-directed</a:t>
            </a:r>
          </a:p>
          <a:p>
            <a:pPr algn="l">
              <a:spcAft>
                <a:spcPts val="300"/>
              </a:spcAft>
            </a:pPr>
            <a:r>
              <a:rPr sz="1200" b="0">
                <a:solidFill>
                  <a:srgbClr val="5B6372"/>
                </a:solidFill>
                <a:latin typeface="Arial"/>
              </a:rPr>
              <a:t>An agent works toward an explicit result instead of only producing the next reply.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a:t>
            </a:r>
          </a:p>
          <a:p>
            <a:pPr algn="l">
              <a:spcAft>
                <a:spcPts val="300"/>
              </a:spcAft>
            </a:pPr>
            <a:r>
              <a:rPr sz="1200" b="0">
                <a:solidFill>
                  <a:srgbClr val="5B6372"/>
                </a:solidFill>
                <a:latin typeface="Arial"/>
              </a:rPr>
              <a:t>The language model interprets intent, proposes steps, and chooses among allowed tools.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Instructions</a:t>
            </a:r>
          </a:p>
          <a:p>
            <a:pPr algn="l">
              <a:spcAft>
                <a:spcPts val="300"/>
              </a:spcAft>
            </a:pPr>
            <a:r>
              <a:rPr sz="1200" b="0">
                <a:solidFill>
                  <a:srgbClr val="5B6372"/>
                </a:solidFill>
                <a:latin typeface="Arial"/>
              </a:rPr>
              <a:t>A reusable contract defines role, evidence, rules, output, and escalation behaviour.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Tools</a:t>
            </a:r>
          </a:p>
          <a:p>
            <a:pPr algn="l">
              <a:spcAft>
                <a:spcPts val="300"/>
              </a:spcAft>
            </a:pPr>
            <a:r>
              <a:rPr sz="1200" b="0">
                <a:solidFill>
                  <a:srgbClr val="5B6372"/>
                </a:solidFill>
                <a:latin typeface="Arial"/>
              </a:rPr>
              <a:t>Tools let the agent retrieve information, calculate, update a system, or trigger a workflow.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Understanding AI Agents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 and state</a:t>
            </a:r>
          </a:p>
          <a:p>
            <a:pPr algn="l">
              <a:spcAft>
                <a:spcPts val="300"/>
              </a:spcAft>
            </a:pPr>
            <a:r>
              <a:rPr sz="1200" b="0">
                <a:solidFill>
                  <a:srgbClr val="5B6372"/>
                </a:solidFill>
                <a:latin typeface="Arial"/>
              </a:rPr>
              <a:t>State carries only the context needed for the next decision; it is not automatically reliable truth.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Observe and adjust</a:t>
            </a:r>
          </a:p>
          <a:p>
            <a:pPr algn="l">
              <a:spcAft>
                <a:spcPts val="300"/>
              </a:spcAft>
            </a:pPr>
            <a:r>
              <a:rPr sz="1200" b="0">
                <a:solidFill>
                  <a:srgbClr val="5B6372"/>
                </a:solidFill>
                <a:latin typeface="Arial"/>
              </a:rPr>
              <a:t>The agent reads tool results, checks progress, and decides whether to continue, retry, stop, or ask a 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Bounded autonomy</a:t>
            </a:r>
          </a:p>
          <a:p>
            <a:pPr algn="l">
              <a:spcAft>
                <a:spcPts val="300"/>
              </a:spcAft>
            </a:pPr>
            <a:r>
              <a:rPr sz="1200" b="0">
                <a:solidFill>
                  <a:srgbClr val="5B6372"/>
                </a:solidFill>
                <a:latin typeface="Arial"/>
              </a:rPr>
              <a:t>Permissions, limits, approval gates, and stop conditions define what the agent may do.</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over confidence</a:t>
            </a:r>
          </a:p>
          <a:p>
            <a:pPr algn="l">
              <a:spcAft>
                <a:spcPts val="300"/>
              </a:spcAft>
            </a:pPr>
            <a:r>
              <a:rPr sz="1200" b="0">
                <a:solidFill>
                  <a:srgbClr val="5B6372"/>
                </a:solidFill>
                <a:latin typeface="Arial"/>
              </a:rPr>
              <a:t>A fluent answer is not proof; important claims and actions need source evidence and verification.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PRACTICAL DIFFERENCE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From Chatbot to Goal-Directed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Chatbot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 agent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Responds to the current message</a:t>
            </a:r>
          </a:p>
          <a:p>
            <a:pPr>
              <a:spcAft>
                <a:spcPts val="1000"/>
              </a:spcAft>
            </a:pPr>
            <a:r>
              <a:rPr sz="1600" b="0">
                <a:solidFill>
                  <a:srgbClr val="161B26"/>
                </a:solidFill>
                <a:latin typeface="Arial"/>
              </a:rPr>
              <a:t>•  Usually produces text only</a:t>
            </a:r>
          </a:p>
          <a:p>
            <a:pPr>
              <a:spcAft>
                <a:spcPts val="1000"/>
              </a:spcAft>
            </a:pPr>
            <a:r>
              <a:rPr sz="1600" b="0">
                <a:solidFill>
                  <a:srgbClr val="161B26"/>
                </a:solidFill>
                <a:latin typeface="Arial"/>
              </a:rPr>
              <a:t>•  Relies on context supplied in the conversation</a:t>
            </a:r>
          </a:p>
          <a:p>
            <a:pPr>
              <a:spcAft>
                <a:spcPts val="1000"/>
              </a:spcAft>
            </a:pPr>
            <a:r>
              <a:rPr sz="1600" b="0">
                <a:solidFill>
                  <a:srgbClr val="161B26"/>
                </a:solidFill>
                <a:latin typeface="Arial"/>
              </a:rPr>
              <a:t>•  A person performs the next action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Works toward a defined outcome</a:t>
            </a:r>
          </a:p>
          <a:p>
            <a:pPr>
              <a:spcAft>
                <a:spcPts val="1000"/>
              </a:spcAft>
            </a:pPr>
            <a:r>
              <a:rPr sz="1600" b="0">
                <a:solidFill>
                  <a:srgbClr val="161B26"/>
                </a:solidFill>
                <a:latin typeface="Arial"/>
              </a:rPr>
              <a:t>•  Can choose and call approved tools</a:t>
            </a:r>
          </a:p>
          <a:p>
            <a:pPr>
              <a:spcAft>
                <a:spcPts val="1000"/>
              </a:spcAft>
            </a:pPr>
            <a:r>
              <a:rPr sz="1600" b="0">
                <a:solidFill>
                  <a:srgbClr val="161B26"/>
                </a:solidFill>
                <a:latin typeface="Arial"/>
              </a:rPr>
              <a:t>•  Observes results and updates its next step</a:t>
            </a:r>
          </a:p>
          <a:p>
            <a:pPr>
              <a:spcAft>
                <a:spcPts val="1000"/>
              </a:spcAft>
            </a:pPr>
            <a:r>
              <a:rPr sz="1600" b="0">
                <a:solidFill>
                  <a:srgbClr val="161B26"/>
                </a:solidFill>
                <a:latin typeface="Arial"/>
              </a:rPr>
              <a:t>•  Stops, escalates, or completes within a boundary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HOW AN AGENT WORKS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Agent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Receive goal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Plan the next step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Use an allowed tool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Observe the result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Check success or stop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AGENT ANATOMY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Six Building Blocks of a Beginner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The outcome, user, success signal, time horizon, and finish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a:t>
            </a:r>
          </a:p>
          <a:p>
            <a:pPr algn="l">
              <a:spcAft>
                <a:spcPts val="300"/>
              </a:spcAft>
            </a:pPr>
            <a:r>
              <a:rPr sz="1200" b="0">
                <a:solidFill>
                  <a:srgbClr val="5B6372"/>
                </a:solidFill>
                <a:latin typeface="Arial"/>
              </a:rPr>
              <a:t>The reasoning and language engine, chosen for the task and operating constraints.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Instructions</a:t>
            </a:r>
          </a:p>
          <a:p>
            <a:pPr algn="l">
              <a:spcAft>
                <a:spcPts val="300"/>
              </a:spcAft>
            </a:pPr>
            <a:r>
              <a:rPr sz="1200" b="0">
                <a:solidFill>
                  <a:srgbClr val="5B6372"/>
                </a:solidFill>
                <a:latin typeface="Arial"/>
              </a:rPr>
              <a:t>Role, evidence rules, decision rules, output schema, and escalation path.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Tools</a:t>
            </a:r>
          </a:p>
          <a:p>
            <a:pPr algn="l">
              <a:spcAft>
                <a:spcPts val="300"/>
              </a:spcAft>
            </a:pPr>
            <a:r>
              <a:rPr sz="1200" b="0">
                <a:solidFill>
                  <a:srgbClr val="5B6372"/>
                </a:solidFill>
                <a:latin typeface="Arial"/>
              </a:rPr>
              <a:t>Clearly named capabilities with narrow inputs, outputs, permissions, and error behaviour.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Short-lived conversation context or approved persistent state needed for continuity.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Guardrails</a:t>
            </a:r>
          </a:p>
          <a:p>
            <a:pPr algn="l">
              <a:spcAft>
                <a:spcPts val="300"/>
              </a:spcAft>
            </a:pPr>
            <a:r>
              <a:rPr sz="1200" b="0">
                <a:solidFill>
                  <a:srgbClr val="5B6372"/>
                </a:solidFill>
                <a:latin typeface="Arial"/>
              </a:rPr>
              <a:t>Validation, privacy rules, approvals, limits, monitoring, and rollback.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MODEL ROLE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What the Language Model Does - and Does Not Do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Useful model work</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Separate system responsibility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Interpret unstructured requests</a:t>
            </a:r>
          </a:p>
          <a:p>
            <a:pPr>
              <a:spcAft>
                <a:spcPts val="1000"/>
              </a:spcAft>
            </a:pPr>
            <a:r>
              <a:rPr sz="1600" b="0">
                <a:solidFill>
                  <a:srgbClr val="161B26"/>
                </a:solidFill>
                <a:latin typeface="Arial"/>
              </a:rPr>
              <a:t>•  Classify intent and propose a plan</a:t>
            </a:r>
          </a:p>
          <a:p>
            <a:pPr>
              <a:spcAft>
                <a:spcPts val="1000"/>
              </a:spcAft>
            </a:pPr>
            <a:r>
              <a:rPr sz="1600" b="0">
                <a:solidFill>
                  <a:srgbClr val="161B26"/>
                </a:solidFill>
                <a:latin typeface="Arial"/>
              </a:rPr>
              <a:t>•  Select among described tools</a:t>
            </a:r>
          </a:p>
          <a:p>
            <a:pPr>
              <a:spcAft>
                <a:spcPts val="1000"/>
              </a:spcAft>
            </a:pPr>
            <a:r>
              <a:rPr sz="1600" b="0">
                <a:solidFill>
                  <a:srgbClr val="161B26"/>
                </a:solidFill>
                <a:latin typeface="Arial"/>
              </a:rPr>
              <a:t>•  Draft and explain a result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Authenticate the user and protect secrets</a:t>
            </a:r>
          </a:p>
          <a:p>
            <a:pPr>
              <a:spcAft>
                <a:spcPts val="1000"/>
              </a:spcAft>
            </a:pPr>
            <a:r>
              <a:rPr sz="1600" b="0">
                <a:solidFill>
                  <a:srgbClr val="161B26"/>
                </a:solidFill>
                <a:latin typeface="Arial"/>
              </a:rPr>
              <a:t>•  Enforce permissions and spending limits</a:t>
            </a:r>
          </a:p>
          <a:p>
            <a:pPr>
              <a:spcAft>
                <a:spcPts val="1000"/>
              </a:spcAft>
            </a:pPr>
            <a:r>
              <a:rPr sz="1600" b="0">
                <a:solidFill>
                  <a:srgbClr val="161B26"/>
                </a:solidFill>
                <a:latin typeface="Arial"/>
              </a:rPr>
              <a:t>•  Validate critical calculations and records</a:t>
            </a:r>
          </a:p>
          <a:p>
            <a:pPr>
              <a:spcAft>
                <a:spcPts val="1000"/>
              </a:spcAft>
            </a:pPr>
            <a:r>
              <a:rPr sz="1600" b="0">
                <a:solidFill>
                  <a:srgbClr val="161B26"/>
                </a:solidFill>
                <a:latin typeface="Arial"/>
              </a:rPr>
              <a:t>•  Log, monitor, approve, and reverse actions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ARCHITECTURE CHOICE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Workflow or Agent? Choose the Smallest Useful Pattern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Use a fixed workflow when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Use an agent when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path and rules are known in advance</a:t>
            </a:r>
          </a:p>
          <a:p>
            <a:pPr>
              <a:spcAft>
                <a:spcPts val="1000"/>
              </a:spcAft>
            </a:pPr>
            <a:r>
              <a:rPr sz="1600" b="0">
                <a:solidFill>
                  <a:srgbClr val="161B26"/>
                </a:solidFill>
                <a:latin typeface="Arial"/>
              </a:rPr>
              <a:t>•  The same inputs should always take the same route</a:t>
            </a:r>
          </a:p>
          <a:p>
            <a:pPr>
              <a:spcAft>
                <a:spcPts val="1000"/>
              </a:spcAft>
            </a:pPr>
            <a:r>
              <a:rPr sz="1600" b="0">
                <a:solidFill>
                  <a:srgbClr val="161B26"/>
                </a:solidFill>
                <a:latin typeface="Arial"/>
              </a:rPr>
              <a:t>•  A mistake would be costly or difficult to reverse</a:t>
            </a:r>
          </a:p>
          <a:p>
            <a:pPr>
              <a:spcAft>
                <a:spcPts val="1000"/>
              </a:spcAft>
            </a:pPr>
            <a:r>
              <a:rPr sz="1600" b="0">
                <a:solidFill>
                  <a:srgbClr val="161B26"/>
                </a:solidFill>
                <a:latin typeface="Arial"/>
              </a:rPr>
              <a:t>•  Speed, predictability, and auditability dominate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Requests are varied or unstructured</a:t>
            </a:r>
          </a:p>
          <a:p>
            <a:pPr>
              <a:spcAft>
                <a:spcPts val="1000"/>
              </a:spcAft>
            </a:pPr>
            <a:r>
              <a:rPr sz="1600" b="0">
                <a:solidFill>
                  <a:srgbClr val="161B26"/>
                </a:solidFill>
                <a:latin typeface="Arial"/>
              </a:rPr>
              <a:t>•  The next step depends on new observations</a:t>
            </a:r>
          </a:p>
          <a:p>
            <a:pPr>
              <a:spcAft>
                <a:spcPts val="1000"/>
              </a:spcAft>
            </a:pPr>
            <a:r>
              <a:rPr sz="1600" b="0">
                <a:solidFill>
                  <a:srgbClr val="161B26"/>
                </a:solidFill>
                <a:latin typeface="Arial"/>
              </a:rPr>
              <a:t>•  Several reasonable tools or routes may work</a:t>
            </a:r>
          </a:p>
          <a:p>
            <a:pPr>
              <a:spcAft>
                <a:spcPts val="1000"/>
              </a:spcAft>
            </a:pPr>
            <a:r>
              <a:rPr sz="1600" b="0">
                <a:solidFill>
                  <a:srgbClr val="161B26"/>
                </a:solidFill>
                <a:latin typeface="Arial"/>
              </a:rPr>
              <a:t>•  A person can review important exceptions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TOOL CALL LIFECYCLE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Turn Language into Observable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User request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Agent selects tool</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System validates inputs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Tool returns evidence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Agent explains or escalates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MEMORY AND CONTEXT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Is Selected State, Not Automatic Truth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Conversation memory</a:t>
            </a:r>
          </a:p>
          <a:p>
            <a:pPr algn="l">
              <a:spcAft>
                <a:spcPts val="300"/>
              </a:spcAft>
            </a:pPr>
            <a:r>
              <a:rPr sz="1200" b="0">
                <a:solidFill>
                  <a:srgbClr val="5B6372"/>
                </a:solidFill>
                <a:latin typeface="Arial"/>
              </a:rPr>
              <a:t>Recent turns that help the agent understand references and maintain continuity.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Task state</a:t>
            </a:r>
          </a:p>
          <a:p>
            <a:pPr algn="l">
              <a:spcAft>
                <a:spcPts val="300"/>
              </a:spcAft>
            </a:pPr>
            <a:r>
              <a:rPr sz="1200" b="0">
                <a:solidFill>
                  <a:srgbClr val="5B6372"/>
                </a:solidFill>
                <a:latin typeface="Arial"/>
              </a:rPr>
              <a:t>Confirmed fields, progress, tool results, and the current checkpoint for one job.</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Long-term profile</a:t>
            </a:r>
          </a:p>
          <a:p>
            <a:pPr algn="l">
              <a:spcAft>
                <a:spcPts val="300"/>
              </a:spcAft>
            </a:pPr>
            <a:r>
              <a:rPr sz="1200" b="0">
                <a:solidFill>
                  <a:srgbClr val="5B6372"/>
                </a:solidFill>
                <a:latin typeface="Arial"/>
              </a:rPr>
              <a:t>Approved preferences or history retained across sessions under a clear policy.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Knowledge source</a:t>
            </a:r>
          </a:p>
          <a:p>
            <a:pPr algn="l">
              <a:spcAft>
                <a:spcPts val="300"/>
              </a:spcAft>
            </a:pPr>
            <a:r>
              <a:rPr sz="1200" b="0">
                <a:solidFill>
                  <a:srgbClr val="5B6372"/>
                </a:solidFill>
                <a:latin typeface="Arial"/>
              </a:rPr>
              <a:t>Documents or records retrieved as evidence; this is different from memory.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Retention rule</a:t>
            </a:r>
          </a:p>
          <a:p>
            <a:pPr algn="l">
              <a:spcAft>
                <a:spcPts val="300"/>
              </a:spcAft>
            </a:pPr>
            <a:r>
              <a:rPr sz="1200" b="0">
                <a:solidFill>
                  <a:srgbClr val="5B6372"/>
                </a:solidFill>
                <a:latin typeface="Arial"/>
              </a:rPr>
              <a:t>What is stored, why, for how long, who can access it, and how it is removed.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Correction path</a:t>
            </a:r>
          </a:p>
          <a:p>
            <a:pPr algn="l">
              <a:spcAft>
                <a:spcPts val="300"/>
              </a:spcAft>
            </a:pPr>
            <a:r>
              <a:rPr sz="1200" b="0">
                <a:solidFill>
                  <a:srgbClr val="5B6372"/>
                </a:solidFill>
                <a:latin typeface="Arial"/>
              </a:rPr>
              <a:t>How a person can inspect, amend, or delete incorrect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TYPES OF AI AGENTS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Three Common Agent Patterns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Conversational agent</a:t>
            </a:r>
          </a:p>
          <a:p>
            <a:pPr algn="l">
              <a:spcAft>
                <a:spcPts val="300"/>
              </a:spcAft>
            </a:pPr>
            <a:r>
              <a:rPr sz="1200" b="0">
                <a:solidFill>
                  <a:srgbClr val="5B6372"/>
                </a:solidFill>
                <a:latin typeface="Arial"/>
              </a:rPr>
              <a:t>Maintains a dialogue, retrieves information, and routes exceptions while a person remains in the interaction.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Task-based agent</a:t>
            </a:r>
          </a:p>
          <a:p>
            <a:pPr algn="l">
              <a:spcAft>
                <a:spcPts val="300"/>
              </a:spcAft>
            </a:pPr>
            <a:r>
              <a:rPr sz="1200" b="0">
                <a:solidFill>
                  <a:srgbClr val="5B6372"/>
                </a:solidFill>
                <a:latin typeface="Arial"/>
              </a:rPr>
              <a:t>Works toward a defined artifact or operational result using a small set of tools and stop conditions.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Multi-agent system</a:t>
            </a:r>
          </a:p>
          <a:p>
            <a:pPr algn="l">
              <a:spcAft>
                <a:spcPts val="300"/>
              </a:spcAft>
            </a:pPr>
            <a:r>
              <a:rPr sz="1200" b="0">
                <a:solidFill>
                  <a:srgbClr val="5B6372"/>
                </a:solidFill>
                <a:latin typeface="Arial"/>
              </a:rPr>
              <a:t>Coordinates specialised agents through an orchestrator; useful only when roles and handoffs are genuinely distinct.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Hybrid workflow</a:t>
            </a:r>
          </a:p>
          <a:p>
            <a:pPr algn="l">
              <a:spcAft>
                <a:spcPts val="300"/>
              </a:spcAft>
            </a:pPr>
            <a:r>
              <a:rPr sz="1200" b="0">
                <a:solidFill>
                  <a:srgbClr val="5B6372"/>
                </a:solidFill>
                <a:latin typeface="Arial"/>
              </a:rPr>
              <a:t>Uses deterministic routing for known rules and an agent only where interpretation or flexible planning adds value.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WHERE AGENTS HELP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Cases Across Service, Marketing, and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Customer service</a:t>
            </a:r>
          </a:p>
          <a:p>
            <a:pPr algn="l">
              <a:spcAft>
                <a:spcPts val="300"/>
              </a:spcAft>
            </a:pPr>
            <a:r>
              <a:rPr sz="1200" b="0">
                <a:solidFill>
                  <a:srgbClr val="5B6372"/>
                </a:solidFill>
                <a:latin typeface="Arial"/>
              </a:rPr>
              <a:t>Answer from approved policies, classify intent, draft responses, and escalate sensitive or unsupported cases.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Marketing</a:t>
            </a:r>
          </a:p>
          <a:p>
            <a:pPr algn="l">
              <a:spcAft>
                <a:spcPts val="300"/>
              </a:spcAft>
            </a:pPr>
            <a:r>
              <a:rPr sz="1200" b="0">
                <a:solidFill>
                  <a:srgbClr val="5B6372"/>
                </a:solidFill>
                <a:latin typeface="Arial"/>
              </a:rPr>
              <a:t>Research approved sources, create variants, organise a content plan, and route material for brand review.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Operations</a:t>
            </a:r>
          </a:p>
          <a:p>
            <a:pPr algn="l">
              <a:spcAft>
                <a:spcPts val="300"/>
              </a:spcAft>
            </a:pPr>
            <a:r>
              <a:rPr sz="1200" b="0">
                <a:solidFill>
                  <a:srgbClr val="5B6372"/>
                </a:solidFill>
                <a:latin typeface="Arial"/>
              </a:rPr>
              <a:t>Summarise requests, check records, calculate routine values, prepare drafts, and coordinate handoffs.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Knowledge support</a:t>
            </a:r>
          </a:p>
          <a:p>
            <a:pPr algn="l">
              <a:spcAft>
                <a:spcPts val="300"/>
              </a:spcAft>
            </a:pPr>
            <a:r>
              <a:rPr sz="1200" b="0">
                <a:solidFill>
                  <a:srgbClr val="5B6372"/>
                </a:solidFill>
                <a:latin typeface="Arial"/>
              </a:rPr>
              <a:t>Retrieve relevant passages, cite the source, explain uncertainty, and record unanswered questions.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Personal productivity</a:t>
            </a:r>
          </a:p>
          <a:p>
            <a:pPr algn="l">
              <a:spcAft>
                <a:spcPts val="300"/>
              </a:spcAft>
            </a:pPr>
            <a:r>
              <a:rPr sz="1200" b="0">
                <a:solidFill>
                  <a:srgbClr val="5B6372"/>
                </a:solidFill>
                <a:latin typeface="Arial"/>
              </a:rPr>
              <a:t>Turn notes into actions, prepare a meeting brief, or organise a repeatable decision checklist.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Avoid or constrain</a:t>
            </a:r>
          </a:p>
          <a:p>
            <a:pPr algn="l">
              <a:spcAft>
                <a:spcPts val="300"/>
              </a:spcAft>
            </a:pPr>
            <a:r>
              <a:rPr sz="1200" b="0">
                <a:solidFill>
                  <a:srgbClr val="5B6372"/>
                </a:solidFill>
                <a:latin typeface="Arial"/>
              </a:rPr>
              <a:t>High-stakes decisions, unrestricted data access, irreversible actions, and tasks without verifiable outcomes.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PLATFORM 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No-Code Platform Landscape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Chat-based builders</a:t>
            </a:r>
          </a:p>
          <a:p>
            <a:pPr algn="l">
              <a:spcAft>
                <a:spcPts val="300"/>
              </a:spcAft>
            </a:pPr>
            <a:r>
              <a:rPr sz="1200" b="0">
                <a:solidFill>
                  <a:srgbClr val="5B6372"/>
                </a:solidFill>
                <a:latin typeface="Arial"/>
              </a:rPr>
              <a:t>Fast instruction, persona, file-grounding, and conversation testing for simple assistants.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Workflow builders</a:t>
            </a:r>
          </a:p>
          <a:p>
            <a:pPr algn="l">
              <a:spcAft>
                <a:spcPts val="300"/>
              </a:spcAft>
            </a:pPr>
            <a:r>
              <a:rPr sz="1200" b="0">
                <a:solidFill>
                  <a:srgbClr val="5B6372"/>
                </a:solidFill>
                <a:latin typeface="Arial"/>
              </a:rPr>
              <a:t>Visual triggers, agent nodes, tools, data movement, approvals, logs, retries, and integrations.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Enterprise studios</a:t>
            </a:r>
          </a:p>
          <a:p>
            <a:pPr algn="l">
              <a:spcAft>
                <a:spcPts val="300"/>
              </a:spcAft>
            </a:pPr>
            <a:r>
              <a:rPr sz="1200" b="0">
                <a:solidFill>
                  <a:srgbClr val="5B6372"/>
                </a:solidFill>
                <a:latin typeface="Arial"/>
              </a:rPr>
              <a:t>Managed identity, connectors, governance, environments, and organisational deployment controls.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 frameworks</a:t>
            </a:r>
          </a:p>
          <a:p>
            <a:pPr algn="l">
              <a:spcAft>
                <a:spcPts val="300"/>
              </a:spcAft>
            </a:pPr>
            <a:r>
              <a:rPr sz="1200" b="0">
                <a:solidFill>
                  <a:srgbClr val="5B6372"/>
                </a:solidFill>
                <a:latin typeface="Arial"/>
              </a:rPr>
              <a:t>Code-level control for teams that need custom tools, state, evaluation, and deployment architecture.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Selection criteria</a:t>
            </a:r>
          </a:p>
          <a:p>
            <a:pPr algn="l">
              <a:spcAft>
                <a:spcPts val="300"/>
              </a:spcAft>
            </a:pPr>
            <a:r>
              <a:rPr sz="1200" b="0">
                <a:solidFill>
                  <a:srgbClr val="5B6372"/>
                </a:solidFill>
                <a:latin typeface="Arial"/>
              </a:rPr>
              <a:t>Required tools, data location, authentication, cost, observability, export, and operator skills.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platform</a:t>
            </a:r>
          </a:p>
          <a:p>
            <a:pPr algn="l">
              <a:spcAft>
                <a:spcPts val="300"/>
              </a:spcAft>
            </a:pPr>
            <a:r>
              <a:rPr sz="1200" b="0">
                <a:solidFill>
                  <a:srgbClr val="5B6372"/>
                </a:solidFill>
                <a:latin typeface="Arial"/>
              </a:rPr>
              <a:t>n8n provides a visual canvas for the model, instructions, memory, tools, test chat, and execution history.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Hands-On Labs — Understanding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Select a Use Case and Map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Select a Use Case and Map the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begin the connected BrightDesk Workspace scenario by turning a broad support-assistant idea into a testable agent canvas. You decide where flexible agent behaviour adds value, where a fixed rule is safer, what evidence the agent may use, and which actions remain with staff.</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500" b="1">
                <a:solidFill>
                  <a:srgbClr val="161B26"/>
                </a:solidFill>
                <a:latin typeface="Arial"/>
              </a:rPr>
              <a:t>C690-agent-starter-pack/01-use-case-and-agent-canvas.md containing the user and job, outcome, success evidence, non-goals, six building blocks, tool permissions, risks, stop conditions, and human owner.</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1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Extract the user, job, outcome, and evidence from the synthetic brief.</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Separate fixed workflow steps from decisions that benefit from an agent.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Map goal, model, instructions, tools, memory, and guardrails.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Set non-goals, permission levels, stop conditions, and a human owner.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Check that every tool and action has an authority level, expected evidence, failure response, and named human owner.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Understanding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LO1 and LO2: distinguish an agent from a chatbot or fixed workflow, then select and map a bounded beginner use case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Your First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Goals, instructions and personas | no-code build | document grounding | tools | testing, deployment and best practices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Your First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Design the outcome</a:t>
            </a:r>
          </a:p>
          <a:p>
            <a:pPr algn="l">
              <a:spcAft>
                <a:spcPts val="300"/>
              </a:spcAft>
            </a:pPr>
            <a:r>
              <a:rPr sz="1200" b="0">
                <a:solidFill>
                  <a:srgbClr val="5B6372"/>
                </a:solidFill>
                <a:latin typeface="Arial"/>
              </a:rPr>
              <a:t>Name the user, job, success evidence, non-goals, and human owner before opening a builder.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Write an instruction contract</a:t>
            </a:r>
          </a:p>
          <a:p>
            <a:pPr algn="l">
              <a:spcAft>
                <a:spcPts val="300"/>
              </a:spcAft>
            </a:pPr>
            <a:r>
              <a:rPr sz="1200" b="0">
                <a:solidFill>
                  <a:srgbClr val="5B6372"/>
                </a:solidFill>
                <a:latin typeface="Arial"/>
              </a:rPr>
              <a:t>Specify goal, grounding, actions, tests, escalation, and state in reusable language.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Ground important claims</a:t>
            </a:r>
          </a:p>
          <a:p>
            <a:pPr algn="l">
              <a:spcAft>
                <a:spcPts val="300"/>
              </a:spcAft>
            </a:pPr>
            <a:r>
              <a:rPr sz="1200" b="0">
                <a:solidFill>
                  <a:srgbClr val="5B6372"/>
                </a:solidFill>
                <a:latin typeface="Arial"/>
              </a:rPr>
              <a:t>Supply approved sources and require the agent to cite, qualify, or refuse when evidence is missing.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Grant least authority</a:t>
            </a:r>
          </a:p>
          <a:p>
            <a:pPr algn="l">
              <a:spcAft>
                <a:spcPts val="300"/>
              </a:spcAft>
            </a:pPr>
            <a:r>
              <a:rPr sz="1200" b="0">
                <a:solidFill>
                  <a:srgbClr val="5B6372"/>
                </a:solidFill>
                <a:latin typeface="Arial"/>
              </a:rPr>
              <a:t>Start read-only, add one low-risk tool, and require approval for consequential actions.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Your First AI Agents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behaviour</a:t>
            </a:r>
          </a:p>
          <a:p>
            <a:pPr algn="l">
              <a:spcAft>
                <a:spcPts val="300"/>
              </a:spcAft>
            </a:pPr>
            <a:r>
              <a:rPr sz="1200" b="0">
                <a:solidFill>
                  <a:srgbClr val="5B6372"/>
                </a:solidFill>
                <a:latin typeface="Arial"/>
              </a:rPr>
              <a:t>Use normal, boundary, missing-evidence, adversarial, and tool-failure cases with expected outcomes.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 gradually</a:t>
            </a:r>
          </a:p>
          <a:p>
            <a:pPr algn="l">
              <a:spcAft>
                <a:spcPts val="300"/>
              </a:spcAft>
            </a:pPr>
            <a:r>
              <a:rPr sz="1200" b="0">
                <a:solidFill>
                  <a:srgbClr val="5B6372"/>
                </a:solidFill>
                <a:latin typeface="Arial"/>
              </a:rPr>
              <a:t>Move from sandbox to internal pilot to controlled use only after evidence supports the next level.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Monitor outcomes</a:t>
            </a:r>
          </a:p>
          <a:p>
            <a:pPr algn="l">
              <a:spcAft>
                <a:spcPts val="300"/>
              </a:spcAft>
            </a:pPr>
            <a:r>
              <a:rPr sz="1200" b="0">
                <a:solidFill>
                  <a:srgbClr val="5B6372"/>
                </a:solidFill>
                <a:latin typeface="Arial"/>
              </a:rPr>
              <a:t>Retain inputs, tool calls, outputs, errors, corrections, latency, and user feedback appropriate to the risk.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a rollback path</a:t>
            </a:r>
          </a:p>
          <a:p>
            <a:pPr algn="l">
              <a:spcAft>
                <a:spcPts val="300"/>
              </a:spcAft>
            </a:pPr>
            <a:r>
              <a:rPr sz="1200" b="0">
                <a:solidFill>
                  <a:srgbClr val="5B6372"/>
                </a:solidFill>
                <a:latin typeface="Arial"/>
              </a:rPr>
              <a:t>Know how to pause the workflow, revoke credentials, restore state, and return work to a person.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DESIGN BEFORE BUILD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Begin with an Agent Canvas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User and job</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Outcome and evidence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Inputs and sources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Tools and authority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Risks and human owner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PROMPT ARCHITECTURE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Goal, Instructions, and Persona Have Different Jobs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Defines the observable result and what completion means.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Instructions</a:t>
            </a:r>
          </a:p>
          <a:p>
            <a:pPr algn="l">
              <a:spcAft>
                <a:spcPts val="300"/>
              </a:spcAft>
            </a:pPr>
            <a:r>
              <a:rPr sz="1200" b="0">
                <a:solidFill>
                  <a:srgbClr val="5B6372"/>
                </a:solidFill>
                <a:latin typeface="Arial"/>
              </a:rPr>
              <a:t>Define evidence, decision rules, tools, output, refusals, and escalation.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Persona</a:t>
            </a:r>
          </a:p>
          <a:p>
            <a:pPr algn="l">
              <a:spcAft>
                <a:spcPts val="300"/>
              </a:spcAft>
            </a:pPr>
            <a:r>
              <a:rPr sz="1200" b="0">
                <a:solidFill>
                  <a:srgbClr val="5B6372"/>
                </a:solidFill>
                <a:latin typeface="Arial"/>
              </a:rPr>
              <a:t>Shapes tone, vocabulary, and interaction style without changing permissions.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Supplies the approved facts and situation for the current task.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Examples</a:t>
            </a:r>
          </a:p>
          <a:p>
            <a:pPr algn="l">
              <a:spcAft>
                <a:spcPts val="300"/>
              </a:spcAft>
            </a:pPr>
            <a:r>
              <a:rPr sz="1200" b="0">
                <a:solidFill>
                  <a:srgbClr val="5B6372"/>
                </a:solidFill>
                <a:latin typeface="Arial"/>
              </a:rPr>
              <a:t>Show difficult cases and the desired format or boundary behaviour.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User message</a:t>
            </a:r>
          </a:p>
          <a:p>
            <a:pPr algn="l">
              <a:spcAft>
                <a:spcPts val="300"/>
              </a:spcAft>
            </a:pPr>
            <a:r>
              <a:rPr sz="1200" b="0">
                <a:solidFill>
                  <a:srgbClr val="5B6372"/>
                </a:solidFill>
                <a:latin typeface="Arial"/>
              </a:rPr>
              <a:t>Expresses the current need; it does not override higher-priority rules.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REUSABLE DESIGN FRAMEWORK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GATES Instruction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Who is helped, what result is required, and what counts as complete.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Authority</a:t>
            </a:r>
          </a:p>
          <a:p>
            <a:pPr algn="l">
              <a:spcAft>
                <a:spcPts val="300"/>
              </a:spcAft>
            </a:pPr>
            <a:r>
              <a:rPr sz="1200" b="0">
                <a:solidFill>
                  <a:srgbClr val="5B6372"/>
                </a:solidFill>
                <a:latin typeface="Arial"/>
              </a:rPr>
              <a:t>Allowed tools and actions, approval gates, prohibited actions, and limits.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Truth</a:t>
            </a:r>
          </a:p>
          <a:p>
            <a:pPr algn="l">
              <a:spcAft>
                <a:spcPts val="300"/>
              </a:spcAft>
            </a:pPr>
            <a:r>
              <a:rPr sz="1200" b="0">
                <a:solidFill>
                  <a:srgbClr val="5B6372"/>
                </a:solidFill>
                <a:latin typeface="Arial"/>
              </a:rPr>
              <a:t>Authoritative sources, citation rules, uncertainty language, and missing-evidence behaviour.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Evaluation</a:t>
            </a:r>
          </a:p>
          <a:p>
            <a:pPr algn="l">
              <a:spcAft>
                <a:spcPts val="300"/>
              </a:spcAft>
            </a:pPr>
            <a:r>
              <a:rPr sz="1200" b="0">
                <a:solidFill>
                  <a:srgbClr val="5B6372"/>
                </a:solidFill>
                <a:latin typeface="Arial"/>
              </a:rPr>
              <a:t>Expected output, checks, test cases, quality thresholds, and failure signals.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a:t>
            </a:r>
          </a:p>
          <a:p>
            <a:pPr algn="l">
              <a:spcAft>
                <a:spcPts val="300"/>
              </a:spcAft>
            </a:pPr>
            <a:r>
              <a:rPr sz="1200" b="0">
                <a:solidFill>
                  <a:srgbClr val="5B6372"/>
                </a:solidFill>
                <a:latin typeface="Arial"/>
              </a:rPr>
              <a:t>What context is retained, for how long, and how it can be corrected or removed.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Escalation</a:t>
            </a:r>
          </a:p>
          <a:p>
            <a:pPr algn="l">
              <a:spcAft>
                <a:spcPts val="300"/>
              </a:spcAft>
            </a:pPr>
            <a:r>
              <a:rPr sz="1200" b="0">
                <a:solidFill>
                  <a:srgbClr val="5B6372"/>
                </a:solidFill>
                <a:latin typeface="Arial"/>
              </a:rPr>
              <a:t>When to stop, what to tell the user, what evidence to pass, and who owns the next step.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DOCUMENTS AND KNOWLEDGE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Grounding: Put Approved Evidence into the Answer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User question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Retrieve relevant source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Supply passage to model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Generate with citation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Check support or refuse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CONNECTING ACTIONS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Tools Need Descriptions, Schemas, and Permission Boundaries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Clear purpose</a:t>
            </a:r>
          </a:p>
          <a:p>
            <a:pPr algn="l">
              <a:spcAft>
                <a:spcPts val="300"/>
              </a:spcAft>
            </a:pPr>
            <a:r>
              <a:rPr sz="1200" b="0">
                <a:solidFill>
                  <a:srgbClr val="5B6372"/>
                </a:solidFill>
                <a:latin typeface="Arial"/>
              </a:rPr>
              <a:t>A tool name and description explain exactly when it should and should not be used.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Narrow input</a:t>
            </a:r>
          </a:p>
          <a:p>
            <a:pPr algn="l">
              <a:spcAft>
                <a:spcPts val="300"/>
              </a:spcAft>
            </a:pPr>
            <a:r>
              <a:rPr sz="1200" b="0">
                <a:solidFill>
                  <a:srgbClr val="5B6372"/>
                </a:solidFill>
                <a:latin typeface="Arial"/>
              </a:rPr>
              <a:t>Required fields, types, ranges, and accepted values reduce ambiguous calls.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 output</a:t>
            </a:r>
          </a:p>
          <a:p>
            <a:pPr algn="l">
              <a:spcAft>
                <a:spcPts val="300"/>
              </a:spcAft>
            </a:pPr>
            <a:r>
              <a:rPr sz="1200" b="0">
                <a:solidFill>
                  <a:srgbClr val="5B6372"/>
                </a:solidFill>
                <a:latin typeface="Arial"/>
              </a:rPr>
              <a:t>Success, result, source, error, and next action are explicit.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Credentials and operations expose only what the task requires.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a:t>
            </a:r>
          </a:p>
          <a:p>
            <a:pPr algn="l">
              <a:spcAft>
                <a:spcPts val="300"/>
              </a:spcAft>
            </a:pPr>
            <a:r>
              <a:rPr sz="1200" b="0">
                <a:solidFill>
                  <a:srgbClr val="5B6372"/>
                </a:solidFill>
                <a:latin typeface="Arial"/>
              </a:rPr>
              <a:t>Consequential calls pause until an authorised person confirms the evidence.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Failure behaviour</a:t>
            </a:r>
          </a:p>
          <a:p>
            <a:pPr algn="l">
              <a:spcAft>
                <a:spcPts val="300"/>
              </a:spcAft>
            </a:pPr>
            <a:r>
              <a:rPr sz="1200" b="0">
                <a:solidFill>
                  <a:srgbClr val="5B6372"/>
                </a:solidFill>
                <a:latin typeface="Arial"/>
              </a:rPr>
              <a:t>Timeouts, empty results, duplicates, and validation errors return a safe, visible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STATE WITH PURPOSE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Memory Design for a Short Service Conversation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Keep recent turn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Extract confirmed fact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Discard unnecessary detail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Use in next response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Expire at session 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BUILDING BLOCKS ON SCREEN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 No-Code Agent on the n8n Canvas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Chat Trigger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AI Agent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Chat Model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Simple Memory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Calculator Tool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FROM QUESTION TO EVIDENCE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Worked Example: BrightDesk Workspace Assistant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Ask: three-hour room estimate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Retrieve price rule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Call calculator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Label estimate as non-binding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Offer staff handoff for booking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EVALUATION SET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Test Behaviour, Not Just Happy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Normal</a:t>
            </a:r>
          </a:p>
          <a:p>
            <a:pPr algn="l">
              <a:spcAft>
                <a:spcPts val="300"/>
              </a:spcAft>
            </a:pPr>
            <a:r>
              <a:rPr sz="1200" b="0">
                <a:solidFill>
                  <a:srgbClr val="5B6372"/>
                </a:solidFill>
                <a:latin typeface="Arial"/>
              </a:rPr>
              <a:t>A supported question returns the correct source-backed answer.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Boundary</a:t>
            </a:r>
          </a:p>
          <a:p>
            <a:pPr algn="l">
              <a:spcAft>
                <a:spcPts val="300"/>
              </a:spcAft>
            </a:pPr>
            <a:r>
              <a:rPr sz="1200" b="0">
                <a:solidFill>
                  <a:srgbClr val="5B6372"/>
                </a:solidFill>
                <a:latin typeface="Arial"/>
              </a:rPr>
              <a:t>A near-limit case follows the exact rule and unit.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Missing evidence</a:t>
            </a:r>
          </a:p>
          <a:p>
            <a:pPr algn="l">
              <a:spcAft>
                <a:spcPts val="300"/>
              </a:spcAft>
            </a:pPr>
            <a:r>
              <a:rPr sz="1200" b="0">
                <a:solidFill>
                  <a:srgbClr val="5B6372"/>
                </a:solidFill>
                <a:latin typeface="Arial"/>
              </a:rPr>
              <a:t>The agent states the gap instead of inventing an answer.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Adversarial</a:t>
            </a:r>
          </a:p>
          <a:p>
            <a:pPr algn="l">
              <a:spcAft>
                <a:spcPts val="300"/>
              </a:spcAft>
            </a:pPr>
            <a:r>
              <a:rPr sz="1200" b="0">
                <a:solidFill>
                  <a:srgbClr val="5B6372"/>
                </a:solidFill>
                <a:latin typeface="Arial"/>
              </a:rPr>
              <a:t>A request to ignore rules or reveal secrets does not change authority.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 failure</a:t>
            </a:r>
          </a:p>
          <a:p>
            <a:pPr algn="l">
              <a:spcAft>
                <a:spcPts val="300"/>
              </a:spcAft>
            </a:pPr>
            <a:r>
              <a:rPr sz="1200" b="0">
                <a:solidFill>
                  <a:srgbClr val="5B6372"/>
                </a:solidFill>
                <a:latin typeface="Arial"/>
              </a:rPr>
              <a:t>The agent reports the failure and offers a safe next step.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review</a:t>
            </a:r>
          </a:p>
          <a:p>
            <a:pPr algn="l">
              <a:spcAft>
                <a:spcPts val="300"/>
              </a:spcAft>
            </a:pPr>
            <a:r>
              <a:rPr sz="1200" b="0">
                <a:solidFill>
                  <a:srgbClr val="5B6372"/>
                </a:solidFill>
                <a:latin typeface="Arial"/>
              </a:rPr>
              <a:t>A consequential or sensitive request stops with the required evidence for handoff.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DEFENCE IN DEPTH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 Privacy, and Prompt Injection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Treat content as data</a:t>
            </a:r>
          </a:p>
          <a:p>
            <a:pPr algn="l">
              <a:spcAft>
                <a:spcPts val="300"/>
              </a:spcAft>
            </a:pPr>
            <a:r>
              <a:rPr sz="1200" b="0">
                <a:solidFill>
                  <a:srgbClr val="5B6372"/>
                </a:solidFill>
                <a:latin typeface="Arial"/>
              </a:rPr>
              <a:t>Documents, websites, and messages may contain instructions that must not override system rules.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Protect credentials</a:t>
            </a:r>
          </a:p>
          <a:p>
            <a:pPr algn="l">
              <a:spcAft>
                <a:spcPts val="300"/>
              </a:spcAft>
            </a:pPr>
            <a:r>
              <a:rPr sz="1200" b="0">
                <a:solidFill>
                  <a:srgbClr val="5B6372"/>
                </a:solidFill>
                <a:latin typeface="Arial"/>
              </a:rPr>
              <a:t>Secrets belong in the platform credential store, never in prompts, files, screenshots, or chat.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Minimise access</a:t>
            </a:r>
          </a:p>
          <a:p>
            <a:pPr algn="l">
              <a:spcAft>
                <a:spcPts val="300"/>
              </a:spcAft>
            </a:pPr>
            <a:r>
              <a:rPr sz="1200" b="0">
                <a:solidFill>
                  <a:srgbClr val="5B6372"/>
                </a:solidFill>
                <a:latin typeface="Arial"/>
              </a:rPr>
              <a:t>Restrict data fields, tool operations, environments, and network destinations.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Validate actions</a:t>
            </a:r>
          </a:p>
          <a:p>
            <a:pPr algn="l">
              <a:spcAft>
                <a:spcPts val="300"/>
              </a:spcAft>
            </a:pPr>
            <a:r>
              <a:rPr sz="1200" b="0">
                <a:solidFill>
                  <a:srgbClr val="5B6372"/>
                </a:solidFill>
                <a:latin typeface="Arial"/>
              </a:rPr>
              <a:t>Check identity, required fields, ranges, targets, and approval before execution.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Monitor</a:t>
            </a:r>
          </a:p>
          <a:p>
            <a:pPr algn="l">
              <a:spcAft>
                <a:spcPts val="300"/>
              </a:spcAft>
            </a:pPr>
            <a:r>
              <a:rPr sz="1200" b="0">
                <a:solidFill>
                  <a:srgbClr val="5B6372"/>
                </a:solidFill>
                <a:latin typeface="Arial"/>
              </a:rPr>
              <a:t>Log tool calls, failures, refusals, corrections, and unusual usage within an appropriate retention policy.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a:t>
            </a:r>
          </a:p>
          <a:p>
            <a:pPr algn="l">
              <a:spcAft>
                <a:spcPts val="300"/>
              </a:spcAft>
            </a:pPr>
            <a:r>
              <a:rPr sz="1200" b="0">
                <a:solidFill>
                  <a:srgbClr val="5B6372"/>
                </a:solidFill>
                <a:latin typeface="Arial"/>
              </a:rPr>
              <a:t>Rate limits, timeouts, iteration limits, kill switches, and rollback reduce the impact of a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OPERATING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Deploy in Stages and Keep a Rollback Path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Sandbox</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Internal test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Recommendation mode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Approved action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Monitored expansion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Building Your First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and Test the Agent Instructions and Persona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Ground the No-Code Agent in n8n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 Tool, Test the Boundaries, and Publish Safely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and Test the Agent Instructions and Persona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convert the approved Lab 1 canvas into reusable instructions for the BrightDesk Workspace assistant. You keep the friendly persona separate from authority, define how sources and calculations appear, and test whether the instructions resist missing evidence and unsafe requests.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700" b="1">
                <a:solidFill>
                  <a:srgbClr val="161B26"/>
                </a:solidFill>
                <a:latin typeface="Arial"/>
              </a:rPr>
              <a:t>C690-agent-starter-pack/02-agent-instructions-and-tests.md containing the GATES contract, persona, response schema, stable test cases, observed results, corrections, and version notes.</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2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Translate the Lab 1 canvas into the six GATES sections.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Add a friendly persona without expanding authority.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Define a source-linked response schema and missing-evidence behaviour.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Run normal, unsupported, injection, and action-boundary tests; revise and rerun.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Fresh-chat baseline cases B01, B02, S01, and S02 all meet expectation.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and Ground the No-Code Agent in n8n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implement the BrightDesk design on the n8n canvas using a supplied credential-free starter workflow. You connect your own approved model credential, paste the reviewed instructions and synthetic FAQ, use short-term memory, run the baseline questions, and inspect execution evidence.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700" b="1">
                <a:solidFill>
                  <a:srgbClr val="161B26"/>
                </a:solidFill>
                <a:latin typeface="Arial"/>
              </a:rPr>
              <a:t>A saved n8n workflow named C690 - BrightDesk Knowledge Agent - v1.0 plus C690-agent-starter-pack/03-build-and-baseline-test-log.md and an exported credential-free workflow checkpoint.</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3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Import the credential-free starter and inspect the four-node route.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Select an approved model credential; insert GATES and the synthetic FAQ.</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Run B01, B02, S01, and S02 in test chat; inspect executions.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Fix failures, rerun, and sanitize/re-import the checkpoint.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B01, B02, S01, and S02 pass; the sanitized export re-imports with no selected credential.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Add a Tool, Test the Boundaries, and Publish Safely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add a Calculator tool to the grounded BrightDesk agent so it can produce transparent, non-binding workspace estimates. You run the full regression set, inspect whether the tool was used only when appropriate, and record a publish or hold decision with monitoring and rollback.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700" b="1">
                <a:solidFill>
                  <a:srgbClr val="161B26"/>
                </a:solidFill>
                <a:latin typeface="Arial"/>
              </a:rPr>
              <a:t>An n8n workflow named C690 - BrightDesk Tool Agent - v1.1 plus C690-agent-starter-pack/04-tool-tests-and-deployment-record.md and a final manifest linking all four lab artifacts.</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4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Add Calculator with a narrow, non-binding rule.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Run ten normal, boundary, tool, injection, privacy, and action cases.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Inspect tool calls, refusals, and handoffs; fix and rerun.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Record publish or hold, owner, monitoring, Unpublish, and rollback.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ctr">
            <a:spAutoFit/>
          </a:bodyPr>
          <a:lstStyle/>
          <a:p>
            <a:pPr algn="ctr">
              <a:spcAft>
                <a:spcPts val="400"/>
              </a:spcAft>
            </a:pPr>
            <a:r>
              <a:rPr sz="1200" b="0">
                <a:solidFill>
                  <a:srgbClr val="161B26"/>
                </a:solidFill>
                <a:latin typeface="Arial"/>
              </a:rPr>
              <a:t>Ten cases pass; the diff is approved; Publish/Unpublish containment is verified.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Building Your First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design a GATES instruction contract with a clear goal, persona, evidence boundary, tool permissions, output rules, tests, and escalation</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LO4: build a simple no-code n8n agent with a chat trigger, model, memory, reviewed instructions, and an approved knowledge source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LO5 and LO6: connect a low-risk tool, verify tool and safety behaviour, and prepare a controlled deployment with monitoring and rollback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how AI agents differ from chatbots and fixed workflows, including the roles of models, prompts, tools, memory, observations, and stop conditions.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Patterns and Platforms</a:t>
            </a:r>
          </a:p>
          <a:p>
            <a:pPr algn="l">
              <a:spcAft>
                <a:spcPts val="300"/>
              </a:spcAft>
            </a:pPr>
            <a:r>
              <a:rPr sz="1300" b="0">
                <a:solidFill>
                  <a:srgbClr val="5B6372"/>
                </a:solidFill>
                <a:latin typeface="Arial"/>
              </a:rPr>
              <a:t>Compare conversational, task-based, and multi-agent patterns and select an appropriate no-code platform and bounded use case.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Design</a:t>
            </a:r>
          </a:p>
          <a:p>
            <a:pPr algn="l">
              <a:spcAft>
                <a:spcPts val="300"/>
              </a:spcAft>
            </a:pPr>
            <a:r>
              <a:rPr sz="1300" b="0">
                <a:solidFill>
                  <a:srgbClr val="5B6372"/>
                </a:solidFill>
                <a:latin typeface="Arial"/>
              </a:rPr>
              <a:t>Design an agent with a clear goal, instructions, persona, evidence boundary, tool permissions, output contract, and human escalation path.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No-Code Build</a:t>
            </a:r>
          </a:p>
          <a:p>
            <a:pPr algn="l">
              <a:spcAft>
                <a:spcPts val="300"/>
              </a:spcAft>
            </a:pPr>
            <a:r>
              <a:rPr sz="1300" b="0">
                <a:solidFill>
                  <a:srgbClr val="5B6372"/>
                </a:solidFill>
                <a:latin typeface="Arial"/>
              </a:rPr>
              <a:t>Build a simple no-code AI agent in n8n and ground its answers on an approved synthetic knowledge source.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Tools and Control</a:t>
            </a:r>
          </a:p>
          <a:p>
            <a:pPr algn="l">
              <a:spcAft>
                <a:spcPts val="300"/>
              </a:spcAft>
            </a:pPr>
            <a:r>
              <a:rPr sz="1300" b="0">
                <a:solidFill>
                  <a:srgbClr val="5B6372"/>
                </a:solidFill>
                <a:latin typeface="Arial"/>
              </a:rPr>
              <a:t>Connect a low-risk tool to an agent and control when the agent may calculate, recommend, refuse, or ask for human approval.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Test and Deploy</a:t>
            </a:r>
          </a:p>
          <a:p>
            <a:pPr algn="l">
              <a:spcAft>
                <a:spcPts val="300"/>
              </a:spcAft>
            </a:pPr>
            <a:r>
              <a:rPr sz="1300" b="0">
                <a:solidFill>
                  <a:srgbClr val="5B6372"/>
                </a:solidFill>
                <a:latin typeface="Arial"/>
              </a:rPr>
              <a:t>Test and prepare an agent for deployment using expected-answer checks, safety cases, logging, monitoring, rollback, and continuous improvement.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Next Safe Increment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Adapt the canvas to one approved, low-risk workplace task with a measurable outcome.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Replace synthetic knowledge only after a source owner confirms accuracy, access, and review dates.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Add one narrowly described tool, then extend the regression set before granting more authority.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Pilot with named users, visible monitoring, a manual fallback, and a tested pause or rollback method.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C690 - START SMALL, VERIFY EVIDENCE, KEEP PEOPLE IN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explain, design, build, ground, tool-enable, test, and prepare a simple AI agent for controlled 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Agents for Beginners (C690)  ·  C690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